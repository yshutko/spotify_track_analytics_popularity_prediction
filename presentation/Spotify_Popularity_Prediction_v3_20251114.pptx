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0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71" r:id="rId4"/>
    <p:sldId id="258" r:id="rId5"/>
    <p:sldId id="265" r:id="rId6"/>
    <p:sldId id="266" r:id="rId7"/>
    <p:sldId id="259" r:id="rId8"/>
    <p:sldId id="270" r:id="rId9"/>
    <p:sldId id="260" r:id="rId10"/>
    <p:sldId id="261" r:id="rId11"/>
    <p:sldId id="262" r:id="rId12"/>
    <p:sldId id="263" r:id="rId13"/>
    <p:sldId id="264" r:id="rId14"/>
    <p:sldId id="272" r:id="rId15"/>
    <p:sldId id="273" r:id="rId16"/>
    <p:sldId id="267" r:id="rId17"/>
    <p:sldId id="268" r:id="rId18"/>
    <p:sldId id="269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7DE"/>
    <a:srgbClr val="0A283B"/>
    <a:srgbClr val="0A27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88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21" d="100"/>
          <a:sy n="121" d="100"/>
        </p:scale>
        <p:origin x="5022" y="9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9406BC-5A41-DB4C-28A7-539C4C534D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701461-6D88-BC96-5E2F-F3CA392083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BE2F0A-29D8-46E5-8744-75AE54D553F2}" type="datetimeFigureOut">
              <a:rPr lang="en-DE" smtClean="0"/>
              <a:t>14/11/2025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E952FF-15A0-2CE8-70FD-AEEAE55396C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5FB1AA-8278-817B-4119-B4CABE32D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554ED-5889-414A-B91F-5636DA1B78A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529989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EF4BE5-CD14-427D-A3B9-1EE4F68B8DB7}" type="datetimeFigureOut">
              <a:rPr lang="en-DE" smtClean="0"/>
              <a:t>14/11/2025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BCED57-1DF6-421E-9368-1E87FF92B60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46748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CED57-1DF6-421E-9368-1E87FF92B600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26527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9464C-A315-42C7-A222-11134E140A80}" type="datetime1">
              <a:rPr lang="en-GB" smtClean="0"/>
              <a:t>14/11/2025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190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663ED-26D9-42BA-B1D4-C0FE1B1A6E33}" type="datetime1">
              <a:rPr lang="en-GB" smtClean="0"/>
              <a:t>14/11/2025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831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8104-3E74-421D-9769-00E1F2A2799D}" type="datetime1">
              <a:rPr lang="en-GB" smtClean="0"/>
              <a:t>14/11/2025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82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0800A-89A0-4905-A420-AA3D604466CD}" type="datetime1">
              <a:rPr lang="en-GB" smtClean="0"/>
              <a:t>14/11/2025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283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8852C-19F6-467F-B349-A54D2EE2B036}" type="datetime1">
              <a:rPr lang="en-GB" smtClean="0"/>
              <a:t>14/11/2025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86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CE2A8-BD15-4B70-BB72-9A70C06923F6}" type="datetime1">
              <a:rPr lang="en-GB" smtClean="0"/>
              <a:t>14/11/2025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982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0309B-376C-43AC-9990-80940C1C3CE2}" type="datetime1">
              <a:rPr lang="en-GB" smtClean="0"/>
              <a:t>14/11/2025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229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DA35E-F3AD-45B3-8DC4-93F95C524562}" type="datetime1">
              <a:rPr lang="en-GB" smtClean="0"/>
              <a:t>14/11/2025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16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91716-06AE-48E5-BC03-6225569E4E32}" type="datetime1">
              <a:rPr lang="en-GB" smtClean="0"/>
              <a:t>14/11/2025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58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769DB-1796-4A54-ADD2-AB67E2BB31DE}" type="datetime1">
              <a:rPr lang="en-GB" smtClean="0"/>
              <a:t>14/11/2025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41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A91FB-905D-419A-9C60-0AB789FA1BEA}" type="datetime1">
              <a:rPr lang="en-GB" smtClean="0"/>
              <a:t>14/11/2025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8924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2A4D484-FCEA-4762-A187-E2E6D9A09635}" type="datetime1">
              <a:rPr lang="en-GB" smtClean="0"/>
              <a:t>14/11/2025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r>
              <a:rPr lang="en-GB"/>
              <a:t>Spotify Track Analytics and Popularity Prediction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377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4140" y="231964"/>
            <a:ext cx="7826188" cy="4149724"/>
          </a:xfrm>
        </p:spPr>
        <p:txBody>
          <a:bodyPr anchor="ctr">
            <a:normAutofit/>
          </a:bodyPr>
          <a:lstStyle/>
          <a:p>
            <a:r>
              <a:rPr lang="en-GB" sz="5200" dirty="0">
                <a:solidFill>
                  <a:srgbClr val="EDE7DE"/>
                </a:solidFill>
              </a:rPr>
              <a:t>Spotify Track Analytics &amp; Popularity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8144" y="3967772"/>
            <a:ext cx="3847712" cy="1653930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rgbClr val="EDE7DE"/>
                </a:solidFill>
              </a:rPr>
              <a:t>James Barlow</a:t>
            </a:r>
          </a:p>
          <a:p>
            <a:r>
              <a:rPr lang="en-GB" dirty="0">
                <a:solidFill>
                  <a:srgbClr val="EDE7DE"/>
                </a:solidFill>
              </a:rPr>
              <a:t>Joshua Tutin</a:t>
            </a:r>
          </a:p>
          <a:p>
            <a:r>
              <a:rPr lang="en-GB" dirty="0">
                <a:solidFill>
                  <a:srgbClr val="EDE7DE"/>
                </a:solidFill>
              </a:rPr>
              <a:t>Yulia Shutko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661A81-371A-B372-A806-119BE8CC317D}"/>
              </a:ext>
            </a:extLst>
          </p:cNvPr>
          <p:cNvSpPr txBox="1"/>
          <p:nvPr/>
        </p:nvSpPr>
        <p:spPr>
          <a:xfrm>
            <a:off x="3011797" y="3618716"/>
            <a:ext cx="3120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6"/>
                </a:solidFill>
              </a:rPr>
              <a:t>Machine Learning + </a:t>
            </a:r>
            <a:r>
              <a:rPr lang="en-GB" dirty="0" err="1">
                <a:solidFill>
                  <a:schemeClr val="accent6"/>
                </a:solidFill>
              </a:rPr>
              <a:t>Streamlit</a:t>
            </a:r>
            <a:r>
              <a:rPr lang="en-GB" dirty="0">
                <a:solidFill>
                  <a:schemeClr val="accent6"/>
                </a:solidFill>
              </a:rPr>
              <a:t> </a:t>
            </a:r>
          </a:p>
          <a:p>
            <a:endParaRPr lang="en-DE" dirty="0"/>
          </a:p>
        </p:txBody>
      </p:sp>
      <p:pic>
        <p:nvPicPr>
          <p:cNvPr id="5" name="Picture 4" descr="teamlogo.png">
            <a:extLst>
              <a:ext uri="{FF2B5EF4-FFF2-40B4-BE49-F238E27FC236}">
                <a16:creationId xmlns:a16="http://schemas.microsoft.com/office/drawing/2014/main" id="{01C7C78A-BC66-422E-EF09-527C87F92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215" y="4794737"/>
            <a:ext cx="2051050" cy="20632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57" y="1509102"/>
            <a:ext cx="7886700" cy="4351338"/>
          </a:xfrm>
        </p:spPr>
        <p:txBody>
          <a:bodyPr/>
          <a:lstStyle/>
          <a:p>
            <a:endParaRPr dirty="0"/>
          </a:p>
          <a:p>
            <a:r>
              <a:rPr dirty="0">
                <a:solidFill>
                  <a:srgbClr val="EDE7DE"/>
                </a:solidFill>
              </a:rPr>
              <a:t>Streaming platforms depend on recommender systems.</a:t>
            </a:r>
          </a:p>
          <a:p>
            <a:r>
              <a:rPr dirty="0">
                <a:solidFill>
                  <a:srgbClr val="EDE7DE"/>
                </a:solidFill>
              </a:rPr>
              <a:t>Artists and producers want to understand what makes a song popular.</a:t>
            </a:r>
          </a:p>
          <a:p>
            <a:r>
              <a:rPr dirty="0">
                <a:solidFill>
                  <a:srgbClr val="EDE7DE"/>
                </a:solidFill>
              </a:rPr>
              <a:t>Data science can reveal measurable trends in music success.</a:t>
            </a:r>
          </a:p>
        </p:txBody>
      </p:sp>
      <p:pic>
        <p:nvPicPr>
          <p:cNvPr id="5" name="Picture 4" descr="teamlogo.png">
            <a:extLst>
              <a:ext uri="{FF2B5EF4-FFF2-40B4-BE49-F238E27FC236}">
                <a16:creationId xmlns:a16="http://schemas.microsoft.com/office/drawing/2014/main" id="{02EB2636-C722-4852-2B8B-37E15EC11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2C2957F-3EB6-47E2-3EAF-370BFE524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81B23-9B00-479A-ABAB-ED894BC65547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9EBB96-CE8A-8DCA-5AAD-74AB8FAE8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0D6CD7-E4EE-DC76-DD08-74D671617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2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F8D8E7-365F-2092-9EFB-C754B7451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D9518-7B36-5419-A1EB-21E777C3B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EDE7DE"/>
                </a:solidFill>
              </a:rPr>
              <a:t>Business Requirements &amp; Solutions</a:t>
            </a:r>
            <a:endParaRPr dirty="0">
              <a:solidFill>
                <a:srgbClr val="EDE7DE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B36AD-9F72-551C-21ED-2E25E2506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57" y="1428187"/>
            <a:ext cx="7886700" cy="5064687"/>
          </a:xfrm>
        </p:spPr>
        <p:txBody>
          <a:bodyPr>
            <a:normAutofit fontScale="92500" lnSpcReduction="10000"/>
          </a:bodyPr>
          <a:lstStyle/>
          <a:p>
            <a:endParaRPr lang="en-GB" dirty="0"/>
          </a:p>
          <a:p>
            <a:pPr marL="514350" indent="-514350">
              <a:buAutoNum type="arabicPeriod"/>
            </a:pPr>
            <a:r>
              <a:rPr lang="en-GB" b="1" dirty="0">
                <a:solidFill>
                  <a:srgbClr val="EDE7DE"/>
                </a:solidFill>
              </a:rPr>
              <a:t>Understand Key Drivers of Song Popularity</a:t>
            </a:r>
          </a:p>
          <a:p>
            <a:pPr marL="0" indent="0">
              <a:buNone/>
            </a:pPr>
            <a:r>
              <a:rPr lang="en-GB" i="1" dirty="0" err="1">
                <a:solidFill>
                  <a:srgbClr val="EDE7DE"/>
                </a:solidFill>
              </a:rPr>
              <a:t>XGBoost</a:t>
            </a:r>
            <a:r>
              <a:rPr lang="en-GB" i="1" dirty="0">
                <a:solidFill>
                  <a:srgbClr val="EDE7DE"/>
                </a:solidFill>
              </a:rPr>
              <a:t> ML model with feature importance analysis</a:t>
            </a:r>
          </a:p>
          <a:p>
            <a:pPr marL="0" indent="0">
              <a:buNone/>
            </a:pPr>
            <a:r>
              <a:rPr lang="en-GB" b="1" dirty="0">
                <a:solidFill>
                  <a:srgbClr val="EDE7DE"/>
                </a:solidFill>
              </a:rPr>
              <a:t>2. Classify Songs by Mood and Energy</a:t>
            </a:r>
            <a:endParaRPr lang="en-GB" dirty="0">
              <a:solidFill>
                <a:srgbClr val="EDE7DE"/>
              </a:solidFill>
            </a:endParaRPr>
          </a:p>
          <a:p>
            <a:pPr marL="0" indent="0">
              <a:buNone/>
            </a:pPr>
            <a:r>
              <a:rPr lang="en-GB" i="1" dirty="0">
                <a:solidFill>
                  <a:srgbClr val="EDE7DE"/>
                </a:solidFill>
              </a:rPr>
              <a:t>Automated mood/energy classification system</a:t>
            </a:r>
            <a:endParaRPr lang="en-GB" b="1" i="1" dirty="0">
              <a:solidFill>
                <a:srgbClr val="EDE7DE"/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EDE7DE"/>
                </a:solidFill>
              </a:rPr>
              <a:t>3. Genre-Level Analysis</a:t>
            </a:r>
            <a:endParaRPr lang="en-GB" dirty="0">
              <a:solidFill>
                <a:srgbClr val="EDE7DE"/>
              </a:solidFill>
            </a:endParaRPr>
          </a:p>
          <a:p>
            <a:pPr marL="0" indent="0">
              <a:buNone/>
            </a:pPr>
            <a:r>
              <a:rPr lang="en-GB" i="1" dirty="0">
                <a:solidFill>
                  <a:srgbClr val="EDE7DE"/>
                </a:solidFill>
              </a:rPr>
              <a:t>Comprehensive genre analytics and visualizations</a:t>
            </a:r>
          </a:p>
          <a:p>
            <a:pPr marL="0" indent="0">
              <a:buNone/>
            </a:pPr>
            <a:r>
              <a:rPr lang="en-GB" b="1" dirty="0">
                <a:solidFill>
                  <a:srgbClr val="EDE7DE"/>
                </a:solidFill>
              </a:rPr>
              <a:t>4. Support Playlist Curation</a:t>
            </a:r>
            <a:endParaRPr lang="en-GB" dirty="0">
              <a:solidFill>
                <a:srgbClr val="EDE7DE"/>
              </a:solidFill>
            </a:endParaRPr>
          </a:p>
          <a:p>
            <a:pPr marL="0" indent="0">
              <a:buNone/>
            </a:pPr>
            <a:r>
              <a:rPr lang="en-GB" i="1" dirty="0">
                <a:solidFill>
                  <a:srgbClr val="EDE7DE"/>
                </a:solidFill>
              </a:rPr>
              <a:t>Data Explorer tab with multi-select filters</a:t>
            </a:r>
          </a:p>
          <a:p>
            <a:pPr marL="0" indent="0">
              <a:buNone/>
            </a:pPr>
            <a:r>
              <a:rPr lang="en-GB" b="1" dirty="0">
                <a:solidFill>
                  <a:srgbClr val="EDE7DE"/>
                </a:solidFill>
              </a:rPr>
              <a:t>5.</a:t>
            </a:r>
            <a:r>
              <a:rPr lang="en-GB" dirty="0">
                <a:solidFill>
                  <a:srgbClr val="EDE7DE"/>
                </a:solidFill>
              </a:rPr>
              <a:t> </a:t>
            </a:r>
            <a:r>
              <a:rPr lang="en-GB" b="1" dirty="0">
                <a:solidFill>
                  <a:srgbClr val="EDE7DE"/>
                </a:solidFill>
              </a:rPr>
              <a:t>Data-Driven Music Recommendations</a:t>
            </a:r>
            <a:endParaRPr lang="en-GB" dirty="0">
              <a:solidFill>
                <a:srgbClr val="EDE7DE"/>
              </a:solidFill>
            </a:endParaRPr>
          </a:p>
          <a:p>
            <a:pPr marL="0" indent="0">
              <a:buNone/>
            </a:pPr>
            <a:r>
              <a:rPr lang="en-GB" i="1" dirty="0">
                <a:solidFill>
                  <a:srgbClr val="EDE7DE"/>
                </a:solidFill>
              </a:rPr>
              <a:t>Track Predictor tab (music producer tool)</a:t>
            </a:r>
            <a:endParaRPr i="1" dirty="0">
              <a:solidFill>
                <a:srgbClr val="EDE7DE"/>
              </a:solidFill>
            </a:endParaRPr>
          </a:p>
        </p:txBody>
      </p:sp>
      <p:pic>
        <p:nvPicPr>
          <p:cNvPr id="5" name="Picture 4" descr="teamlogo.png">
            <a:extLst>
              <a:ext uri="{FF2B5EF4-FFF2-40B4-BE49-F238E27FC236}">
                <a16:creationId xmlns:a16="http://schemas.microsoft.com/office/drawing/2014/main" id="{7AB67440-647E-00E8-0614-7F9402E82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CFEE308-FAF8-C427-1D22-FD8D38E36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81B23-9B00-479A-ABAB-ED894BC65547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51F1727-11FD-5AE7-4F02-3F44D0E6D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939B9EA-1073-3ADD-7D9A-48ED80221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3</a:t>
            </a:fld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1310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solidFill>
                <a:srgbClr val="EDE7DE"/>
              </a:solidFill>
            </a:endParaRPr>
          </a:p>
          <a:p>
            <a:r>
              <a:rPr dirty="0">
                <a:solidFill>
                  <a:srgbClr val="EDE7DE"/>
                </a:solidFill>
              </a:rPr>
              <a:t>≈114,000 tracks, 125 genres (Kaggle dataset).</a:t>
            </a:r>
          </a:p>
          <a:p>
            <a:r>
              <a:rPr dirty="0">
                <a:solidFill>
                  <a:srgbClr val="EDE7DE"/>
                </a:solidFill>
              </a:rPr>
              <a:t>Audio features: danceability, energy, valence, loudness, tempo, etc.</a:t>
            </a:r>
          </a:p>
          <a:p>
            <a:r>
              <a:rPr dirty="0">
                <a:solidFill>
                  <a:srgbClr val="EDE7DE"/>
                </a:solidFill>
              </a:rPr>
              <a:t>Metadata: artist, genre, explicit, duration, release year.</a:t>
            </a:r>
          </a:p>
          <a:p>
            <a:r>
              <a:rPr dirty="0">
                <a:solidFill>
                  <a:srgbClr val="EDE7DE"/>
                </a:solidFill>
              </a:rPr>
              <a:t>Target: popularity (0–100).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CB7B178D-9101-C45F-69E7-C9453C779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7C3F2C-A8B1-24AE-7A1D-99D21569A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3BE43-2116-47F2-B9B3-3B477D218DD8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B1AC8F-7B27-3A71-F35A-2BA11F23C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6CE0E-8BD0-4BE7-6E69-B0E1A33A2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4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solidFill>
                  <a:srgbClr val="EDE7DE"/>
                </a:solidFill>
              </a:rPr>
              <a:t>Streamlit</a:t>
            </a:r>
            <a:r>
              <a:rPr dirty="0">
                <a:solidFill>
                  <a:srgbClr val="EDE7DE"/>
                </a:solidFill>
              </a:rPr>
              <a:t> App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5707" y="1881934"/>
            <a:ext cx="7429499" cy="3541714"/>
          </a:xfrm>
        </p:spPr>
        <p:txBody>
          <a:bodyPr>
            <a:normAutofit lnSpcReduction="10000"/>
          </a:bodyPr>
          <a:lstStyle/>
          <a:p>
            <a:endParaRPr dirty="0">
              <a:solidFill>
                <a:srgbClr val="EDE7DE"/>
              </a:solidFill>
            </a:endParaRPr>
          </a:p>
          <a:p>
            <a:r>
              <a:rPr dirty="0">
                <a:solidFill>
                  <a:srgbClr val="EDE7DE"/>
                </a:solidFill>
              </a:rPr>
              <a:t>Interactive tool for exploring features and predicting popularity.</a:t>
            </a:r>
          </a:p>
          <a:p>
            <a:r>
              <a:rPr dirty="0">
                <a:solidFill>
                  <a:srgbClr val="EDE7DE"/>
                </a:solidFill>
              </a:rPr>
              <a:t>Upload your own dataset or use demo data.</a:t>
            </a:r>
          </a:p>
          <a:p>
            <a:r>
              <a:rPr dirty="0">
                <a:solidFill>
                  <a:srgbClr val="EDE7DE"/>
                </a:solidFill>
              </a:rPr>
              <a:t>Visualize correlations, model metrics, and predictions in real-time.</a:t>
            </a:r>
          </a:p>
          <a:p>
            <a:r>
              <a:rPr dirty="0">
                <a:solidFill>
                  <a:srgbClr val="EDE7DE"/>
                </a:solidFill>
              </a:rPr>
              <a:t>Frontend: </a:t>
            </a:r>
            <a:r>
              <a:rPr dirty="0" err="1">
                <a:solidFill>
                  <a:srgbClr val="EDE7DE"/>
                </a:solidFill>
              </a:rPr>
              <a:t>Streamlit</a:t>
            </a:r>
            <a:r>
              <a:rPr dirty="0">
                <a:solidFill>
                  <a:srgbClr val="EDE7DE"/>
                </a:solidFill>
              </a:rPr>
              <a:t> + trained </a:t>
            </a:r>
            <a:r>
              <a:rPr dirty="0" err="1">
                <a:solidFill>
                  <a:srgbClr val="EDE7DE"/>
                </a:solidFill>
              </a:rPr>
              <a:t>XGBoost</a:t>
            </a:r>
            <a:r>
              <a:rPr dirty="0">
                <a:solidFill>
                  <a:srgbClr val="EDE7DE"/>
                </a:solidFill>
              </a:rPr>
              <a:t> backend.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9855BAF3-B667-E08A-F848-41C757971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B76769-6F93-A73E-9724-59236CD7F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E5591-85C7-4249-B0CF-D7D348D3507B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4E6CA-0EC4-D649-826A-5D95A5BE2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7E2A3-217A-FD22-012C-96711BB68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5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58" y="1729535"/>
            <a:ext cx="7429499" cy="3541714"/>
          </a:xfrm>
        </p:spPr>
        <p:txBody>
          <a:bodyPr/>
          <a:lstStyle/>
          <a:p>
            <a:endParaRPr dirty="0">
              <a:solidFill>
                <a:srgbClr val="EDE7DE"/>
              </a:solidFill>
            </a:endParaRPr>
          </a:p>
          <a:p>
            <a:r>
              <a:rPr dirty="0">
                <a:solidFill>
                  <a:srgbClr val="EDE7DE"/>
                </a:solidFill>
              </a:rPr>
              <a:t>Home: Project overview and instructions.</a:t>
            </a:r>
          </a:p>
          <a:p>
            <a:r>
              <a:rPr dirty="0">
                <a:solidFill>
                  <a:srgbClr val="EDE7DE"/>
                </a:solidFill>
              </a:rPr>
              <a:t>Data Exploration: Correlations and heatmaps.</a:t>
            </a:r>
          </a:p>
          <a:p>
            <a:r>
              <a:rPr dirty="0">
                <a:solidFill>
                  <a:srgbClr val="EDE7DE"/>
                </a:solidFill>
              </a:rPr>
              <a:t>Model Insights: Feature importance, results, metrics.</a:t>
            </a:r>
          </a:p>
          <a:p>
            <a:r>
              <a:rPr dirty="0">
                <a:solidFill>
                  <a:srgbClr val="EDE7DE"/>
                </a:solidFill>
              </a:rPr>
              <a:t>Prediction Tool: Input new song attributes and predict popularity.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0ADC6D36-0805-E520-477B-9992FDA41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A6197453-15E9-4848-74D2-A1ABF905D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rgbClr val="EDE7DE"/>
                </a:solidFill>
              </a:rPr>
              <a:t>Streamlit</a:t>
            </a:r>
            <a:r>
              <a:rPr lang="en-GB" dirty="0">
                <a:solidFill>
                  <a:srgbClr val="EDE7DE"/>
                </a:solidFill>
              </a:rPr>
              <a:t> App Features</a:t>
            </a:r>
            <a:endParaRPr lang="en-DE" dirty="0">
              <a:solidFill>
                <a:srgbClr val="EDE7DE"/>
              </a:solidFill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DD2F7A-86AC-81BC-5C9F-F47BC9E32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79971-FC24-404A-96E8-B4A7C3AF839A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E49117-7AB9-D1CD-11BC-EFD316C1F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07EEE5-1CCE-9979-1D38-2AFA81DB3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6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18" y="1690689"/>
            <a:ext cx="4563478" cy="1622660"/>
          </a:xfrm>
        </p:spPr>
        <p:txBody>
          <a:bodyPr>
            <a:normAutofit fontScale="92500" lnSpcReduction="20000"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GB" sz="1700" b="1" dirty="0">
                <a:solidFill>
                  <a:srgbClr val="EDE7DE"/>
                </a:solidFill>
              </a:rPr>
              <a:t>Popularity &amp; Audio Features</a:t>
            </a:r>
          </a:p>
          <a:p>
            <a:pPr>
              <a:spcBef>
                <a:spcPts val="0"/>
              </a:spcBef>
            </a:pPr>
            <a:r>
              <a:rPr lang="en-GB" sz="1700" dirty="0">
                <a:solidFill>
                  <a:srgbClr val="EDE7DE"/>
                </a:solidFill>
              </a:rPr>
              <a:t>Popularity Distribution is right-skewed: most tracks are low popularity.</a:t>
            </a:r>
          </a:p>
          <a:p>
            <a:pPr>
              <a:spcBef>
                <a:spcPts val="0"/>
              </a:spcBef>
            </a:pPr>
            <a:r>
              <a:rPr lang="en-GB" sz="1700" dirty="0">
                <a:solidFill>
                  <a:srgbClr val="EDE7DE"/>
                </a:solidFill>
              </a:rPr>
              <a:t>Danceability and Valence are normally distributed.</a:t>
            </a:r>
          </a:p>
          <a:p>
            <a:pPr>
              <a:spcBef>
                <a:spcPts val="0"/>
              </a:spcBef>
            </a:pPr>
            <a:r>
              <a:rPr lang="en-GB" sz="1700" dirty="0" err="1">
                <a:solidFill>
                  <a:srgbClr val="EDE7DE"/>
                </a:solidFill>
              </a:rPr>
              <a:t>Acousticness</a:t>
            </a:r>
            <a:r>
              <a:rPr lang="en-GB" sz="1700" dirty="0">
                <a:solidFill>
                  <a:srgbClr val="EDE7DE"/>
                </a:solidFill>
              </a:rPr>
              <a:t>, </a:t>
            </a:r>
            <a:r>
              <a:rPr lang="en-GB" sz="1700" dirty="0" err="1">
                <a:solidFill>
                  <a:srgbClr val="EDE7DE"/>
                </a:solidFill>
              </a:rPr>
              <a:t>Instrumentalness</a:t>
            </a:r>
            <a:r>
              <a:rPr lang="en-GB" sz="1700" dirty="0">
                <a:solidFill>
                  <a:srgbClr val="EDE7DE"/>
                </a:solidFill>
              </a:rPr>
              <a:t>, </a:t>
            </a:r>
            <a:r>
              <a:rPr lang="en-GB" sz="1700" dirty="0" err="1">
                <a:solidFill>
                  <a:srgbClr val="EDE7DE"/>
                </a:solidFill>
              </a:rPr>
              <a:t>Speechiness</a:t>
            </a:r>
            <a:r>
              <a:rPr lang="en-GB" sz="1700" dirty="0">
                <a:solidFill>
                  <a:srgbClr val="EDE7DE"/>
                </a:solidFill>
              </a:rPr>
              <a:t> are skewed toward 0.</a:t>
            </a:r>
          </a:p>
          <a:p>
            <a:pPr>
              <a:spcBef>
                <a:spcPts val="0"/>
              </a:spcBef>
            </a:pPr>
            <a:r>
              <a:rPr lang="en-GB" sz="1700" dirty="0">
                <a:solidFill>
                  <a:srgbClr val="EDE7DE"/>
                </a:solidFill>
              </a:rPr>
              <a:t>Energy is slightly skewed to higher values.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C794D4-D5C0-F808-D0CA-AC5DA823F583}"/>
              </a:ext>
            </a:extLst>
          </p:cNvPr>
          <p:cNvSpPr txBox="1">
            <a:spLocks/>
          </p:cNvSpPr>
          <p:nvPr/>
        </p:nvSpPr>
        <p:spPr>
          <a:xfrm>
            <a:off x="383171" y="3544652"/>
            <a:ext cx="4563478" cy="181983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GB" sz="1600" b="1" dirty="0">
                <a:solidFill>
                  <a:srgbClr val="EDE7DE"/>
                </a:solidFill>
              </a:rPr>
              <a:t>Genre Distribution &amp; Performance</a:t>
            </a:r>
          </a:p>
          <a:p>
            <a:pPr>
              <a:spcBef>
                <a:spcPts val="0"/>
              </a:spcBef>
            </a:pPr>
            <a:r>
              <a:rPr lang="en-GB" sz="1600" dirty="0">
                <a:solidFill>
                  <a:srgbClr val="EDE7DE"/>
                </a:solidFill>
              </a:rPr>
              <a:t>Pop, Hip Hop, Rock dominate track count.</a:t>
            </a:r>
          </a:p>
          <a:p>
            <a:pPr>
              <a:spcBef>
                <a:spcPts val="0"/>
              </a:spcBef>
            </a:pPr>
            <a:r>
              <a:rPr lang="en-GB" sz="1600" dirty="0">
                <a:solidFill>
                  <a:srgbClr val="EDE7DE"/>
                </a:solidFill>
              </a:rPr>
              <a:t>High popularity is not strictly tied to genre frequency.</a:t>
            </a:r>
          </a:p>
          <a:p>
            <a:pPr>
              <a:spcBef>
                <a:spcPts val="0"/>
              </a:spcBef>
            </a:pPr>
            <a:r>
              <a:rPr lang="en-GB" sz="1600" dirty="0">
                <a:solidFill>
                  <a:srgbClr val="EDE7DE"/>
                </a:solidFill>
              </a:rPr>
              <a:t>Genres like K-pop and Latin show high avg. popularity despite lower count.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solidFill>
                <a:srgbClr val="EDE7DE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13059CE-60A9-9F4B-07E1-237407486207}"/>
              </a:ext>
            </a:extLst>
          </p:cNvPr>
          <p:cNvSpPr txBox="1">
            <a:spLocks/>
          </p:cNvSpPr>
          <p:nvPr/>
        </p:nvSpPr>
        <p:spPr>
          <a:xfrm>
            <a:off x="4768849" y="1592104"/>
            <a:ext cx="4563478" cy="20632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GB" sz="2000" b="1" dirty="0">
                <a:solidFill>
                  <a:srgbClr val="EDE7DE"/>
                </a:solidFill>
              </a:rPr>
              <a:t>Feature Relationships &amp; Popularity</a:t>
            </a:r>
          </a:p>
          <a:p>
            <a:pPr>
              <a:spcBef>
                <a:spcPts val="0"/>
              </a:spcBef>
            </a:pPr>
            <a:r>
              <a:rPr lang="en-GB" sz="2000" dirty="0">
                <a:solidFill>
                  <a:srgbClr val="EDE7DE"/>
                </a:solidFill>
              </a:rPr>
              <a:t>Energy vs Valence: higher popularity clusters around high energy + valence.</a:t>
            </a:r>
          </a:p>
          <a:p>
            <a:pPr>
              <a:spcBef>
                <a:spcPts val="0"/>
              </a:spcBef>
            </a:pPr>
            <a:r>
              <a:rPr lang="en-GB" sz="2000" dirty="0">
                <a:solidFill>
                  <a:srgbClr val="EDE7DE"/>
                </a:solidFill>
              </a:rPr>
              <a:t>Popularity shows weak correlation with all features.</a:t>
            </a:r>
          </a:p>
          <a:p>
            <a:pPr>
              <a:spcBef>
                <a:spcPts val="0"/>
              </a:spcBef>
            </a:pPr>
            <a:r>
              <a:rPr lang="en-GB" sz="2000" dirty="0">
                <a:solidFill>
                  <a:srgbClr val="EDE7DE"/>
                </a:solidFill>
              </a:rPr>
              <a:t>Strong internal feature correlations: </a:t>
            </a:r>
            <a:r>
              <a:rPr lang="en-GB" sz="2000" dirty="0" err="1">
                <a:solidFill>
                  <a:srgbClr val="EDE7DE"/>
                </a:solidFill>
              </a:rPr>
              <a:t>Energy~Loudness</a:t>
            </a:r>
            <a:r>
              <a:rPr lang="en-GB" sz="2000" dirty="0">
                <a:solidFill>
                  <a:srgbClr val="EDE7DE"/>
                </a:solidFill>
              </a:rPr>
              <a:t>, </a:t>
            </a:r>
            <a:r>
              <a:rPr lang="en-GB" sz="2000" dirty="0" err="1">
                <a:solidFill>
                  <a:srgbClr val="EDE7DE"/>
                </a:solidFill>
              </a:rPr>
              <a:t>Acousticness~Instrumentalness</a:t>
            </a:r>
            <a:r>
              <a:rPr lang="en-GB" sz="2000" dirty="0">
                <a:solidFill>
                  <a:srgbClr val="EDE7DE"/>
                </a:solidFill>
              </a:rPr>
              <a:t> (negative).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solidFill>
                <a:srgbClr val="EDE7DE"/>
              </a:solidFill>
            </a:endParaRPr>
          </a:p>
        </p:txBody>
      </p:sp>
      <p:pic>
        <p:nvPicPr>
          <p:cNvPr id="7" name="Picture 6" descr="teamlogo.png">
            <a:extLst>
              <a:ext uri="{FF2B5EF4-FFF2-40B4-BE49-F238E27FC236}">
                <a16:creationId xmlns:a16="http://schemas.microsoft.com/office/drawing/2014/main" id="{11D7378B-DA2E-E647-BAA2-D122437DA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74B64B-13C6-C4E3-04E4-943D7815A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EDE7DE"/>
                </a:solidFill>
              </a:rPr>
              <a:t>EDA &amp;Insights</a:t>
            </a:r>
            <a:endParaRPr lang="en-DE" dirty="0">
              <a:solidFill>
                <a:srgbClr val="EDE7DE"/>
              </a:solidFill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D453433C-4D3C-1333-3269-FAA52096E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FCB9F-F847-4DB9-85E4-5BBBB258580F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27F5005-E4C9-CBE2-C510-140132C5E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DF770D5-3E0E-DE8C-CF03-228621A0F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7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C016EC-0D5B-A7BA-E72C-34CE57E39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4B3DBD6-6713-F675-F082-54E9880DA9A2}"/>
              </a:ext>
            </a:extLst>
          </p:cNvPr>
          <p:cNvSpPr txBox="1">
            <a:spLocks/>
          </p:cNvSpPr>
          <p:nvPr/>
        </p:nvSpPr>
        <p:spPr>
          <a:xfrm>
            <a:off x="649873" y="2079859"/>
            <a:ext cx="7104598" cy="3182424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GB" sz="8000" b="1" dirty="0">
                <a:solidFill>
                  <a:srgbClr val="EDE7DE"/>
                </a:solidFill>
              </a:rPr>
              <a:t>Popularity</a:t>
            </a:r>
            <a:r>
              <a:rPr lang="en-GB" sz="8000" dirty="0">
                <a:solidFill>
                  <a:srgbClr val="EDE7DE"/>
                </a:solidFill>
              </a:rPr>
              <a:t>: Most tracks are low popularity; few outliers dominate.</a:t>
            </a:r>
          </a:p>
          <a:p>
            <a:pPr>
              <a:spcBef>
                <a:spcPts val="0"/>
              </a:spcBef>
            </a:pPr>
            <a:r>
              <a:rPr lang="en-GB" sz="8000" b="1" dirty="0">
                <a:solidFill>
                  <a:srgbClr val="EDE7DE"/>
                </a:solidFill>
              </a:rPr>
              <a:t>Genre</a:t>
            </a:r>
            <a:r>
              <a:rPr lang="en-GB" sz="8000" dirty="0">
                <a:solidFill>
                  <a:srgbClr val="EDE7DE"/>
                </a:solidFill>
              </a:rPr>
              <a:t>: Mainstream genres dominate, but niche genres can be highly popular.</a:t>
            </a:r>
          </a:p>
          <a:p>
            <a:pPr>
              <a:spcBef>
                <a:spcPts val="0"/>
              </a:spcBef>
            </a:pPr>
            <a:r>
              <a:rPr lang="en-GB" sz="8000" b="1" dirty="0">
                <a:solidFill>
                  <a:srgbClr val="EDE7DE"/>
                </a:solidFill>
              </a:rPr>
              <a:t>Feature Distributions</a:t>
            </a:r>
            <a:r>
              <a:rPr lang="en-GB" sz="8000" dirty="0">
                <a:solidFill>
                  <a:srgbClr val="EDE7DE"/>
                </a:solidFill>
              </a:rPr>
              <a:t>: Many features are skewed—transformation/scaling needed.</a:t>
            </a:r>
          </a:p>
          <a:p>
            <a:pPr>
              <a:spcBef>
                <a:spcPts val="0"/>
              </a:spcBef>
            </a:pPr>
            <a:r>
              <a:rPr lang="en-GB" sz="8000" b="1" dirty="0">
                <a:solidFill>
                  <a:srgbClr val="EDE7DE"/>
                </a:solidFill>
              </a:rPr>
              <a:t>Correlations</a:t>
            </a:r>
            <a:r>
              <a:rPr lang="en-GB" sz="8000" dirty="0">
                <a:solidFill>
                  <a:srgbClr val="EDE7DE"/>
                </a:solidFill>
              </a:rPr>
              <a:t>: Popularity is weakly correlated; multivariate models like </a:t>
            </a:r>
            <a:r>
              <a:rPr lang="en-GB" sz="8000" dirty="0" err="1">
                <a:solidFill>
                  <a:srgbClr val="EDE7DE"/>
                </a:solidFill>
              </a:rPr>
              <a:t>XGBoost</a:t>
            </a:r>
            <a:r>
              <a:rPr lang="en-GB" sz="8000" dirty="0">
                <a:solidFill>
                  <a:srgbClr val="EDE7DE"/>
                </a:solidFill>
              </a:rPr>
              <a:t> needed.</a:t>
            </a:r>
          </a:p>
          <a:p>
            <a:pPr>
              <a:spcBef>
                <a:spcPts val="0"/>
              </a:spcBef>
            </a:pPr>
            <a:r>
              <a:rPr lang="en-GB" sz="8000" b="1" dirty="0">
                <a:solidFill>
                  <a:srgbClr val="EDE7DE"/>
                </a:solidFill>
              </a:rPr>
              <a:t>Popular Traits</a:t>
            </a:r>
            <a:r>
              <a:rPr lang="en-GB" sz="8000" dirty="0">
                <a:solidFill>
                  <a:srgbClr val="EDE7DE"/>
                </a:solidFill>
              </a:rPr>
              <a:t>: High Energy + High Valence tend to be most popular.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>
              <a:solidFill>
                <a:srgbClr val="EDE7DE"/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32398E6-19AC-EBBB-5970-1E8CE6641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EDE7DE"/>
                </a:solidFill>
              </a:rPr>
              <a:t>EDA Key Summary</a:t>
            </a:r>
            <a:endParaRPr lang="en-DE" dirty="0">
              <a:solidFill>
                <a:srgbClr val="EDE7DE"/>
              </a:solidFill>
            </a:endParaRPr>
          </a:p>
        </p:txBody>
      </p:sp>
      <p:pic>
        <p:nvPicPr>
          <p:cNvPr id="11" name="Picture 10" descr="teamlogo.png">
            <a:extLst>
              <a:ext uri="{FF2B5EF4-FFF2-40B4-BE49-F238E27FC236}">
                <a16:creationId xmlns:a16="http://schemas.microsoft.com/office/drawing/2014/main" id="{A0562680-FCA7-E1E8-9F79-5780CE023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6980"/>
            <a:ext cx="2051050" cy="2063263"/>
          </a:xfrm>
          <a:prstGeom prst="rect">
            <a:avLst/>
          </a:prstGeom>
        </p:spPr>
      </p:pic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F759376-844C-F0E5-1BC9-8682FAFF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375D4-9BD8-4BEE-9E77-F60A08735835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1CE25F9-8483-8EDB-7B5F-9B4B3A285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7A4EA67-5A92-FEAC-9BD4-E2653898A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8</a:t>
            </a:fld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600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Model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60" y="1738498"/>
            <a:ext cx="7429499" cy="3541714"/>
          </a:xfrm>
        </p:spPr>
        <p:txBody>
          <a:bodyPr/>
          <a:lstStyle/>
          <a:p>
            <a:endParaRPr dirty="0">
              <a:solidFill>
                <a:srgbClr val="EDE7DE"/>
              </a:solidFill>
            </a:endParaRPr>
          </a:p>
          <a:p>
            <a:r>
              <a:rPr dirty="0">
                <a:solidFill>
                  <a:srgbClr val="EDE7DE"/>
                </a:solidFill>
              </a:rPr>
              <a:t>Goal: Predict song popularity (regression).</a:t>
            </a:r>
          </a:p>
          <a:p>
            <a:r>
              <a:rPr dirty="0">
                <a:solidFill>
                  <a:srgbClr val="EDE7DE"/>
                </a:solidFill>
              </a:rPr>
              <a:t>Preprocessing: Scaling, encoding, feature cleaning.</a:t>
            </a:r>
          </a:p>
          <a:p>
            <a:r>
              <a:rPr dirty="0">
                <a:solidFill>
                  <a:srgbClr val="EDE7DE"/>
                </a:solidFill>
              </a:rPr>
              <a:t>Models tested: Linear Regression, Random Forest, </a:t>
            </a:r>
            <a:r>
              <a:rPr dirty="0" err="1">
                <a:solidFill>
                  <a:srgbClr val="EDE7DE"/>
                </a:solidFill>
              </a:rPr>
              <a:t>XGBoost</a:t>
            </a:r>
            <a:r>
              <a:rPr dirty="0">
                <a:solidFill>
                  <a:srgbClr val="EDE7DE"/>
                </a:solidFill>
              </a:rPr>
              <a:t>.</a:t>
            </a:r>
          </a:p>
          <a:p>
            <a:r>
              <a:rPr dirty="0">
                <a:solidFill>
                  <a:srgbClr val="EDE7DE"/>
                </a:solidFill>
              </a:rPr>
              <a:t>Metrics: R², RMSE, feature importance.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6A46383D-AAE4-7023-F60F-0AD4F7606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9F358-EC18-CF57-23D7-064AD7F5F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E650E-6B6F-4B53-A219-C68BA10AFC8A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BEBDE-8A50-13E5-8E47-948512656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25AC3-435C-64CE-28E9-02A3F688B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9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>
                <a:solidFill>
                  <a:srgbClr val="EDE7DE"/>
                </a:solidFill>
              </a:rPr>
              <a:t>Linear Regression → R² = 0.25 (underfits).</a:t>
            </a:r>
          </a:p>
          <a:p>
            <a:r>
              <a:rPr dirty="0">
                <a:solidFill>
                  <a:srgbClr val="EDE7DE"/>
                </a:solidFill>
              </a:rPr>
              <a:t>Random Forest → R² = 0.36 (better).</a:t>
            </a:r>
          </a:p>
          <a:p>
            <a:r>
              <a:rPr dirty="0" err="1">
                <a:solidFill>
                  <a:srgbClr val="EDE7DE"/>
                </a:solidFill>
              </a:rPr>
              <a:t>XGBoost</a:t>
            </a:r>
            <a:r>
              <a:rPr dirty="0">
                <a:solidFill>
                  <a:srgbClr val="EDE7DE"/>
                </a:solidFill>
              </a:rPr>
              <a:t> → R² = 0.4772, RMSE = 17.4 (best).</a:t>
            </a:r>
          </a:p>
          <a:p>
            <a:r>
              <a:rPr dirty="0">
                <a:solidFill>
                  <a:srgbClr val="EDE7DE"/>
                </a:solidFill>
              </a:rPr>
              <a:t>Explains ~39% of variance — moderate predictive power.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E96714BC-C57B-B5B3-8EA6-A65E931BA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A6F360-D2C9-1480-03AE-81049A30E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28C8A-10BE-4223-8A9D-9724BC6EA1E3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077D2-9230-F0AF-7EB9-C646836EE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1EC3F-7423-1798-C9F8-CFA1B3219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10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Top Predictors (</a:t>
            </a:r>
            <a:r>
              <a:rPr dirty="0" err="1">
                <a:solidFill>
                  <a:srgbClr val="EDE7DE"/>
                </a:solidFill>
              </a:rPr>
              <a:t>XGBoost</a:t>
            </a:r>
            <a:r>
              <a:rPr dirty="0">
                <a:solidFill>
                  <a:srgbClr val="EDE7DE"/>
                </a:solidFill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918" y="1196569"/>
            <a:ext cx="7886700" cy="4351338"/>
          </a:xfrm>
        </p:spPr>
        <p:txBody>
          <a:bodyPr>
            <a:normAutofit/>
          </a:bodyPr>
          <a:lstStyle/>
          <a:p>
            <a:endParaRPr/>
          </a:p>
          <a:p>
            <a:r>
              <a:t>1. Genre</a:t>
            </a:r>
          </a:p>
          <a:p>
            <a:r>
              <a:t>2. Duration</a:t>
            </a:r>
          </a:p>
          <a:p>
            <a:r>
              <a:t>3. Explicit flag</a:t>
            </a:r>
          </a:p>
          <a:p>
            <a:r>
              <a:t>4. Energy</a:t>
            </a:r>
          </a:p>
          <a:p>
            <a:r>
              <a:t>5. Danceability</a:t>
            </a:r>
          </a:p>
          <a:p>
            <a:r>
              <a:t>Weaker predictors: acousticness, valence, instrumentalness.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D02FA847-4F4A-25A8-B578-9D5D56807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C2C1B-CCBA-2362-0EF7-69A051EDC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069EC-EDCF-4775-BA8B-35767C28B4EE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C5E0D6-F9D3-8D57-ECB0-2D64F88D2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F9AD-B604-2535-7EB6-9EB40B396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11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Handling Noise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Removed redundant and low-variance features.</a:t>
            </a:r>
          </a:p>
          <a:p>
            <a:r>
              <a:rPr dirty="0"/>
              <a:t>Applied correlation checks to drop weak predictors.</a:t>
            </a:r>
          </a:p>
          <a:p>
            <a:r>
              <a:rPr dirty="0"/>
              <a:t>Focused on audio + genre combinations.</a:t>
            </a:r>
          </a:p>
          <a:p>
            <a:r>
              <a:rPr dirty="0"/>
              <a:t>Improved interpretability without overfitting.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3B2BB6D2-ACE2-F480-A617-3FB0D136B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882EE-2A6B-F422-18D1-947BA6D4F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17D7C-0402-48F1-BCAD-E3C6B33F07E7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90EA18-51E7-3764-F3CF-840881ECE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BD3E93-7179-1B59-CF9D-6D7B3413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12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Interpreting R² = 0.4772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solidFill>
                <a:srgbClr val="EDE7DE"/>
              </a:solidFill>
            </a:endParaRPr>
          </a:p>
          <a:p>
            <a:r>
              <a:rPr dirty="0">
                <a:solidFill>
                  <a:srgbClr val="EDE7DE"/>
                </a:solidFill>
              </a:rPr>
              <a:t>39% of popularity variance explained by musical features.</a:t>
            </a:r>
          </a:p>
          <a:p>
            <a:r>
              <a:rPr dirty="0">
                <a:solidFill>
                  <a:srgbClr val="EDE7DE"/>
                </a:solidFill>
              </a:rPr>
              <a:t>61% unexplained — likely social or marketing influences.</a:t>
            </a:r>
          </a:p>
          <a:p>
            <a:r>
              <a:rPr dirty="0">
                <a:solidFill>
                  <a:srgbClr val="EDE7DE"/>
                </a:solidFill>
              </a:rPr>
              <a:t>Model identifies patterns, not viral or cultural effects.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9FD76452-2F77-22A3-7FE4-4B55AB3BF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C845E-B2DF-953F-43E2-6E4AE6E3B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E94AB-BAD0-4B8C-A57E-44A29806BF1A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D0433-F00E-88D4-D67E-6A302C976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54529-23F8-BE75-808D-FF0ADB59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13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3B2FA0-0B6B-ACAA-6142-375B9CF54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4CAC7-5DFC-C4E2-D874-32373F25E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solidFill>
                  <a:srgbClr val="EDE7DE"/>
                </a:solidFill>
              </a:rPr>
              <a:t>XGBoost</a:t>
            </a:r>
            <a:r>
              <a:rPr lang="en-GB" dirty="0">
                <a:solidFill>
                  <a:srgbClr val="EDE7DE"/>
                </a:solidFill>
              </a:rPr>
              <a:t> Feature Importance</a:t>
            </a:r>
            <a:br>
              <a:rPr lang="en-GB" dirty="0"/>
            </a:br>
            <a:endParaRPr dirty="0"/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3C41742C-84CD-04D2-E851-0CC7483AC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B9D0C-C198-E747-9D9F-D7488D7A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E94AB-BAD0-4B8C-A57E-44A29806BF1A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5439A-610C-D41A-B011-1D7D13B3E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AB4D43-E118-8D47-9744-AC27439A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14</a:t>
            </a:fld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10" name="Picture 9" descr="07_feature_importance.png">
            <a:extLst>
              <a:ext uri="{FF2B5EF4-FFF2-40B4-BE49-F238E27FC236}">
                <a16:creationId xmlns:a16="http://schemas.microsoft.com/office/drawing/2014/main" id="{CB4717B8-9D42-66C1-BE36-B75AC8052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90" y="1097280"/>
            <a:ext cx="7016192" cy="4169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954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AC0C64-444B-6988-693A-E1CE73DC6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A0049-21B0-5365-DB32-D0D9C47A0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>
                <a:solidFill>
                  <a:srgbClr val="EDE7DE"/>
                </a:solidFill>
              </a:rPr>
              <a:t>XGBoost</a:t>
            </a:r>
            <a:r>
              <a:rPr lang="en-GB" dirty="0">
                <a:solidFill>
                  <a:srgbClr val="EDE7DE"/>
                </a:solidFill>
              </a:rPr>
              <a:t>: Key Findings &amp; Insights</a:t>
            </a:r>
            <a:br>
              <a:rPr lang="en-GB" dirty="0"/>
            </a:br>
            <a:endParaRPr dirty="0"/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A22CC4A2-D3DC-C9B3-3417-FC11C7CED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A978C-3F5D-CC0F-994C-6ECCE8E3C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E94AB-BAD0-4B8C-A57E-44A29806BF1A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36E96-4481-8255-35FB-6A25FA75B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11B75B-3E3A-37A2-F0DB-A8A0C6A6E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2B4BC59-C595-D952-1350-4189C9B75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838" y="1224206"/>
            <a:ext cx="8702162" cy="3996723"/>
          </a:xfrm>
        </p:spPr>
        <p:txBody>
          <a:bodyPr>
            <a:normAutofit lnSpcReduction="1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GB" sz="2400" dirty="0">
                <a:solidFill>
                  <a:srgbClr val="EDE7DE"/>
                </a:solidFill>
              </a:rPr>
              <a:t>Achieved R² of 0.8447 on test set [</a:t>
            </a:r>
            <a:r>
              <a:rPr lang="en-US" sz="2400" dirty="0">
                <a:solidFill>
                  <a:srgbClr val="EDE7DE"/>
                </a:solidFill>
              </a:rPr>
              <a:t>after the hyper parameter tuning, the R squared suggests that the updated model is able to explain more of the variation].</a:t>
            </a:r>
            <a:endParaRPr lang="en-GB" sz="2400" dirty="0">
              <a:solidFill>
                <a:srgbClr val="EDE7DE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DE" sz="2400" dirty="0">
                <a:solidFill>
                  <a:srgbClr val="EDE7DE"/>
                </a:solidFill>
              </a:rPr>
              <a:t> </a:t>
            </a:r>
            <a:r>
              <a:rPr lang="en-GB" sz="2400" dirty="0">
                <a:solidFill>
                  <a:srgbClr val="EDE7DE"/>
                </a:solidFill>
              </a:rPr>
              <a:t>RMSE of 6.02 demonstrates strong predictive accuracy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DE" sz="2400" dirty="0">
                <a:solidFill>
                  <a:srgbClr val="EDE7DE"/>
                </a:solidFill>
              </a:rPr>
              <a:t> </a:t>
            </a:r>
            <a:r>
              <a:rPr lang="en-GB" sz="2400" dirty="0">
                <a:solidFill>
                  <a:srgbClr val="EDE7DE"/>
                </a:solidFill>
              </a:rPr>
              <a:t>No significant overfitting observed in learning curves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DE" sz="2400" dirty="0">
                <a:solidFill>
                  <a:srgbClr val="EDE7DE"/>
                </a:solidFill>
              </a:rPr>
              <a:t> </a:t>
            </a:r>
            <a:r>
              <a:rPr lang="en-GB" sz="2400" dirty="0">
                <a:solidFill>
                  <a:srgbClr val="EDE7DE"/>
                </a:solidFill>
              </a:rPr>
              <a:t>Residuals follow normal distribution, validating model assumptions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DE" sz="2400" dirty="0">
                <a:solidFill>
                  <a:srgbClr val="EDE7DE"/>
                </a:solidFill>
              </a:rPr>
              <a:t> </a:t>
            </a:r>
            <a:r>
              <a:rPr lang="en-GB" sz="2400" dirty="0">
                <a:solidFill>
                  <a:srgbClr val="EDE7DE"/>
                </a:solidFill>
              </a:rPr>
              <a:t>SHAP analysis reveals key drivers of track popularity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DE" sz="2400" dirty="0">
                <a:solidFill>
                  <a:srgbClr val="EDE7DE"/>
                </a:solidFill>
              </a:rPr>
              <a:t> </a:t>
            </a:r>
            <a:r>
              <a:rPr lang="en-GB" sz="2400" dirty="0">
                <a:solidFill>
                  <a:srgbClr val="EDE7DE"/>
                </a:solidFill>
              </a:rPr>
              <a:t>Model uses 0 audio features for prediction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192A42"/>
                </a:solidFill>
              </a:defRPr>
            </a:pPr>
            <a:r>
              <a:rPr lang="en-DE" sz="2400" dirty="0">
                <a:solidFill>
                  <a:srgbClr val="EDE7DE"/>
                </a:solidFill>
              </a:rPr>
              <a:t> </a:t>
            </a:r>
            <a:r>
              <a:rPr lang="en-GB" sz="2400" dirty="0">
                <a:solidFill>
                  <a:srgbClr val="EDE7DE"/>
                </a:solidFill>
              </a:rPr>
              <a:t>Full </a:t>
            </a:r>
            <a:r>
              <a:rPr lang="en-GB" sz="2400" dirty="0" err="1">
                <a:solidFill>
                  <a:srgbClr val="EDE7DE"/>
                </a:solidFill>
              </a:rPr>
              <a:t>MLflow</a:t>
            </a:r>
            <a:r>
              <a:rPr lang="en-GB" sz="2400" dirty="0">
                <a:solidFill>
                  <a:srgbClr val="EDE7DE"/>
                </a:solidFill>
              </a:rPr>
              <a:t> experiment tracking enables reproducibility.</a:t>
            </a:r>
            <a:endParaRPr sz="2400" dirty="0">
              <a:solidFill>
                <a:srgbClr val="EDE7D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7385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Challenges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r>
              <a:rPr dirty="0">
                <a:solidFill>
                  <a:srgbClr val="EDE7DE"/>
                </a:solidFill>
              </a:rPr>
              <a:t>Popularity is influenced by non-musical factors.</a:t>
            </a:r>
          </a:p>
          <a:p>
            <a:r>
              <a:rPr dirty="0">
                <a:solidFill>
                  <a:srgbClr val="EDE7DE"/>
                </a:solidFill>
              </a:rPr>
              <a:t>Genre encoding and missing metadata posed difficulties.</a:t>
            </a:r>
          </a:p>
          <a:p>
            <a:r>
              <a:rPr dirty="0">
                <a:solidFill>
                  <a:srgbClr val="EDE7DE"/>
                </a:solidFill>
              </a:rPr>
              <a:t>Learned that genre and energy are most consistent predictors.</a:t>
            </a:r>
          </a:p>
          <a:p>
            <a:r>
              <a:rPr dirty="0">
                <a:solidFill>
                  <a:srgbClr val="EDE7DE"/>
                </a:solidFill>
              </a:rPr>
              <a:t>Visualization helps bridge ML insights and music understanding.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AE454282-FC7F-CAB4-BF1C-1857815BC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817171-3A84-B652-FDF6-8B391ECB7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7E61D-9F0F-4294-BDAF-1AD44B96CBA0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340CD-4DF9-147A-72C7-47991F9DC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A5572-EE07-FE47-78A5-8B1FBD434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16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7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solidFill>
                <a:srgbClr val="EDE7DE"/>
              </a:solidFill>
            </a:endParaRPr>
          </a:p>
          <a:p>
            <a:r>
              <a:rPr dirty="0">
                <a:solidFill>
                  <a:srgbClr val="EDE7DE"/>
                </a:solidFill>
              </a:rPr>
              <a:t>Integrate artist-level data (followers, playlists).</a:t>
            </a:r>
          </a:p>
          <a:p>
            <a:r>
              <a:rPr dirty="0">
                <a:solidFill>
                  <a:srgbClr val="EDE7DE"/>
                </a:solidFill>
              </a:rPr>
              <a:t>Use deep learning (CNN/RNN) on raw audio.</a:t>
            </a:r>
          </a:p>
          <a:p>
            <a:r>
              <a:rPr dirty="0">
                <a:solidFill>
                  <a:srgbClr val="EDE7DE"/>
                </a:solidFill>
              </a:rPr>
              <a:t>Add SHAP interpretability visualizations.</a:t>
            </a:r>
          </a:p>
          <a:p>
            <a:r>
              <a:rPr dirty="0">
                <a:solidFill>
                  <a:srgbClr val="EDE7DE"/>
                </a:solidFill>
              </a:rPr>
              <a:t>Enhance </a:t>
            </a:r>
            <a:r>
              <a:rPr dirty="0" err="1">
                <a:solidFill>
                  <a:srgbClr val="EDE7DE"/>
                </a:solidFill>
              </a:rPr>
              <a:t>Streamlit</a:t>
            </a:r>
            <a:r>
              <a:rPr dirty="0">
                <a:solidFill>
                  <a:srgbClr val="EDE7DE"/>
                </a:solidFill>
              </a:rPr>
              <a:t> for live Spotify API integration.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4631A0A4-10AA-C756-95D0-9D81AF461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E52E62-8A70-D440-6A8E-6AB11963A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61D0C-A7EE-4F8C-8084-E106E528E013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ADC7FC-118B-BC64-6CDC-589F402BA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74F47-CFEF-A0C3-04B1-66E354D37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17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8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EDE7DE"/>
                </a:solidFill>
              </a:rPr>
              <a:t>Final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53331"/>
            <a:ext cx="7886700" cy="4351338"/>
          </a:xfrm>
        </p:spPr>
        <p:txBody>
          <a:bodyPr/>
          <a:lstStyle/>
          <a:p>
            <a:endParaRPr dirty="0">
              <a:solidFill>
                <a:srgbClr val="EDE7DE"/>
              </a:solidFill>
            </a:endParaRPr>
          </a:p>
          <a:p>
            <a:r>
              <a:rPr dirty="0">
                <a:solidFill>
                  <a:srgbClr val="EDE7DE"/>
                </a:solidFill>
              </a:rPr>
              <a:t>Full ML pipeline: EDA → Model → Visualization → Deployment.</a:t>
            </a:r>
          </a:p>
          <a:p>
            <a:r>
              <a:rPr dirty="0">
                <a:solidFill>
                  <a:srgbClr val="EDE7DE"/>
                </a:solidFill>
              </a:rPr>
              <a:t>R² = 0.</a:t>
            </a:r>
            <a:r>
              <a:rPr lang="en-GB" dirty="0">
                <a:solidFill>
                  <a:srgbClr val="EDE7DE"/>
                </a:solidFill>
              </a:rPr>
              <a:t>8447</a:t>
            </a:r>
            <a:r>
              <a:rPr dirty="0">
                <a:solidFill>
                  <a:srgbClr val="EDE7DE"/>
                </a:solidFill>
              </a:rPr>
              <a:t> indicates </a:t>
            </a:r>
            <a:r>
              <a:rPr lang="en-GB" dirty="0">
                <a:solidFill>
                  <a:srgbClr val="EDE7DE"/>
                </a:solidFill>
              </a:rPr>
              <a:t>good</a:t>
            </a:r>
            <a:r>
              <a:rPr dirty="0">
                <a:solidFill>
                  <a:srgbClr val="EDE7DE"/>
                </a:solidFill>
              </a:rPr>
              <a:t> predictive performance.</a:t>
            </a:r>
          </a:p>
          <a:p>
            <a:r>
              <a:rPr dirty="0" err="1">
                <a:solidFill>
                  <a:srgbClr val="EDE7DE"/>
                </a:solidFill>
              </a:rPr>
              <a:t>Streamlit</a:t>
            </a:r>
            <a:r>
              <a:rPr dirty="0">
                <a:solidFill>
                  <a:srgbClr val="EDE7DE"/>
                </a:solidFill>
              </a:rPr>
              <a:t> app makes insights interactive and accessible.</a:t>
            </a:r>
          </a:p>
          <a:p>
            <a:r>
              <a:rPr dirty="0">
                <a:solidFill>
                  <a:srgbClr val="EDE7DE"/>
                </a:solidFill>
              </a:rPr>
              <a:t>ML helps identify trends but not fully predict human taste.</a:t>
            </a:r>
          </a:p>
        </p:txBody>
      </p:sp>
      <p:pic>
        <p:nvPicPr>
          <p:cNvPr id="4" name="Picture 3" descr="teamlogo.png">
            <a:extLst>
              <a:ext uri="{FF2B5EF4-FFF2-40B4-BE49-F238E27FC236}">
                <a16:creationId xmlns:a16="http://schemas.microsoft.com/office/drawing/2014/main" id="{A300B51B-63D5-0A3D-EA06-1A0BE253E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4794737"/>
            <a:ext cx="2051050" cy="20632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6E1BC-F09C-A9D2-09FB-6DC74D01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A6865-4D49-42DF-A517-EFB8865FE30B}" type="datetime1">
              <a:rPr lang="en-GB" smtClean="0">
                <a:solidFill>
                  <a:schemeClr val="accent6"/>
                </a:solidFill>
              </a:rPr>
              <a:t>14/11/2025</a:t>
            </a:fld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8A230-425D-C5C4-DA46-EE42CCDAD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>
                <a:solidFill>
                  <a:schemeClr val="accent6"/>
                </a:solidFill>
              </a:rPr>
              <a:t>Spotify Track Analytics and Popularity Prediction</a:t>
            </a: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ED3F9-3A81-690D-0A1F-53B7EF986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chemeClr val="accent6"/>
                </a:solidFill>
              </a:rPr>
              <a:t>18</a:t>
            </a:fld>
            <a:endParaRPr lang="en-US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941</Words>
  <Application>Microsoft Office PowerPoint</Application>
  <PresentationFormat>On-screen Show (4:3)</PresentationFormat>
  <Paragraphs>170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Spotify Track Analytics &amp; Popularity Prediction</vt:lpstr>
      <vt:lpstr>Motivation</vt:lpstr>
      <vt:lpstr>Business Requirements &amp; Solutions</vt:lpstr>
      <vt:lpstr>Dataset Overview</vt:lpstr>
      <vt:lpstr>Streamlit App Overview</vt:lpstr>
      <vt:lpstr>Streamlit App Features</vt:lpstr>
      <vt:lpstr>EDA &amp;Insights</vt:lpstr>
      <vt:lpstr>EDA Key Summary</vt:lpstr>
      <vt:lpstr>Model Pipeline</vt:lpstr>
      <vt:lpstr>Model Comparison</vt:lpstr>
      <vt:lpstr>Top Predictors (XGBoost)</vt:lpstr>
      <vt:lpstr>Handling Noise</vt:lpstr>
      <vt:lpstr>Interpreting R² = 0.39</vt:lpstr>
      <vt:lpstr>XGBoost Feature Importance </vt:lpstr>
      <vt:lpstr>XGBoost: Key Findings &amp; Insights </vt:lpstr>
      <vt:lpstr>Challenges &amp; Learnings</vt:lpstr>
      <vt:lpstr>Future Work</vt:lpstr>
      <vt:lpstr>Final Takeaway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Yulia Shutko</cp:lastModifiedBy>
  <cp:revision>11</cp:revision>
  <dcterms:created xsi:type="dcterms:W3CDTF">2013-01-27T09:14:16Z</dcterms:created>
  <dcterms:modified xsi:type="dcterms:W3CDTF">2025-11-14T09:42:28Z</dcterms:modified>
  <cp:category/>
</cp:coreProperties>
</file>